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293B"/>
                </a:solidFill>
                <a:latin typeface="Arial"/>
              </a:rPr>
              <a:t>Top sports pratiques (activites sur 12 mois)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Activites / an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40-4E55-827D-0D715862FD38}"/>
              </c:ext>
            </c:extLst>
          </c:dPt>
          <c:dPt>
            <c:idx val="1"/>
            <c:invertIfNegative val="0"/>
            <c:bubble3D val="0"/>
            <c:spPr>
              <a:solidFill>
                <a:srgbClr val="534A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40-4E55-827D-0D715862FD38}"/>
              </c:ext>
            </c:extLst>
          </c:dPt>
          <c:dPt>
            <c:idx val="2"/>
            <c:invertIfNegative val="0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40-4E55-827D-0D715862FD38}"/>
              </c:ext>
            </c:extLst>
          </c:dPt>
          <c:dPt>
            <c:idx val="3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40-4E55-827D-0D715862FD38}"/>
              </c:ext>
            </c:extLst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A40-4E55-827D-0D715862FD38}"/>
              </c:ext>
            </c:extLst>
          </c:dPt>
          <c:dPt>
            <c:idx val="5"/>
            <c:invertIfNegative val="0"/>
            <c:bubble3D val="0"/>
            <c:spPr>
              <a:solidFill>
                <a:srgbClr val="534A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A40-4E55-827D-0D715862FD38}"/>
              </c:ext>
            </c:extLst>
          </c:dPt>
          <c:dPt>
            <c:idx val="6"/>
            <c:invertIfNegative val="0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A40-4E55-827D-0D715862FD38}"/>
              </c:ext>
            </c:extLst>
          </c:dPt>
          <c:dPt>
            <c:idx val="7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A40-4E55-827D-0D715862FD38}"/>
              </c:ext>
            </c:extLst>
          </c:dPt>
          <c:dPt>
            <c:idx val="8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A40-4E55-827D-0D715862FD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Running</c:v>
                </c:pt>
                <c:pt idx="1">
                  <c:v>Cycling</c:v>
                </c:pt>
                <c:pt idx="2">
                  <c:v>Swimming</c:v>
                </c:pt>
                <c:pt idx="3">
                  <c:v>Walking</c:v>
                </c:pt>
                <c:pt idx="4">
                  <c:v>Tennis</c:v>
                </c:pt>
                <c:pt idx="5">
                  <c:v>Football</c:v>
                </c:pt>
                <c:pt idx="6">
                  <c:v>Hiking</c:v>
                </c:pt>
                <c:pt idx="7">
                  <c:v>Yoga</c:v>
                </c:pt>
                <c:pt idx="8">
                  <c:v>Crossfit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820</c:v>
                </c:pt>
                <c:pt idx="1">
                  <c:v>650</c:v>
                </c:pt>
                <c:pt idx="2">
                  <c:v>420</c:v>
                </c:pt>
                <c:pt idx="3">
                  <c:v>380</c:v>
                </c:pt>
                <c:pt idx="4">
                  <c:v>310</c:v>
                </c:pt>
                <c:pt idx="5">
                  <c:v>280</c:v>
                </c:pt>
                <c:pt idx="6">
                  <c:v>250</c:v>
                </c:pt>
                <c:pt idx="7">
                  <c:v>220</c:v>
                </c:pt>
                <c:pt idx="8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A40-4E55-827D-0D715862FD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A0B4C8"/>
                </a:solidFill>
                <a:latin typeface="Arial"/>
              </a:defRPr>
            </a:pPr>
            <a:r>
              <a:rPr lang="fr-FR" sz="900" b="0" i="0" u="none" strike="noStrike">
                <a:solidFill>
                  <a:srgbClr val="A0B4C8"/>
                </a:solidFill>
                <a:latin typeface="Arial"/>
              </a:rPr>
              <a:t>Activites par sport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Activites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DF-492E-ACAD-A2FC51F991E8}"/>
              </c:ext>
            </c:extLst>
          </c:dPt>
          <c:dPt>
            <c:idx val="1"/>
            <c:invertIfNegative val="0"/>
            <c:bubble3D val="0"/>
            <c:spPr>
              <a:solidFill>
                <a:srgbClr val="1E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DF-492E-ACAD-A2FC51F991E8}"/>
              </c:ext>
            </c:extLst>
          </c:dPt>
          <c:dPt>
            <c:idx val="2"/>
            <c:invertIfNegative val="0"/>
            <c:bubble3D val="0"/>
            <c:spPr>
              <a:solidFill>
                <a:srgbClr val="1D8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DF-492E-ACAD-A2FC51F991E8}"/>
              </c:ext>
            </c:extLst>
          </c:dPt>
          <c:dPt>
            <c:idx val="3"/>
            <c:invertIfNegative val="0"/>
            <c:bubble3D val="0"/>
            <c:spPr>
              <a:solidFill>
                <a:srgbClr val="1C7E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DF-492E-ACAD-A2FC51F991E8}"/>
              </c:ext>
            </c:extLst>
          </c:dPt>
          <c:dPt>
            <c:idx val="4"/>
            <c:invertIfNegative val="0"/>
            <c:bubble3D val="0"/>
            <c:spPr>
              <a:solidFill>
                <a:srgbClr val="1B6E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DF-492E-ACAD-A2FC51F991E8}"/>
              </c:ext>
            </c:extLst>
          </c:dPt>
          <c:dPt>
            <c:idx val="5"/>
            <c:invertIfNegative val="0"/>
            <c:bubble3D val="0"/>
            <c:spPr>
              <a:solidFill>
                <a:srgbClr val="1A5E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5DF-492E-ACAD-A2FC51F991E8}"/>
              </c:ext>
            </c:extLst>
          </c:dPt>
          <c:cat>
            <c:strRef>
              <c:f>Sheet1!$A$2:$A$7</c:f>
              <c:strCache>
                <c:ptCount val="6"/>
                <c:pt idx="0">
                  <c:v>Running</c:v>
                </c:pt>
                <c:pt idx="1">
                  <c:v>Cycling</c:v>
                </c:pt>
                <c:pt idx="2">
                  <c:v>Swimming</c:v>
                </c:pt>
                <c:pt idx="3">
                  <c:v>Walking</c:v>
                </c:pt>
                <c:pt idx="4">
                  <c:v>Tennis</c:v>
                </c:pt>
                <c:pt idx="5">
                  <c:v>Football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650</c:v>
                </c:pt>
                <c:pt idx="2">
                  <c:v>420</c:v>
                </c:pt>
                <c:pt idx="3">
                  <c:v>380</c:v>
                </c:pt>
                <c:pt idx="4">
                  <c:v>310</c:v>
                </c:pt>
                <c:pt idx="5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5DF-492E-ACAD-A2FC51F99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A0B4C8"/>
                </a:solidFill>
                <a:latin typeface="Arial"/>
              </a:defRPr>
            </a:pPr>
            <a:r>
              <a:rPr lang="fr-FR" sz="900" b="0" i="0" u="none" strike="noStrike">
                <a:solidFill>
                  <a:srgbClr val="A0B4C8"/>
                </a:solidFill>
                <a:latin typeface="Arial"/>
              </a:rPr>
              <a:t>Modes deplacement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DF-4F79-8393-879AAD37B3F4}"/>
              </c:ext>
            </c:extLst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DF-4F79-8393-879AAD37B3F4}"/>
              </c:ext>
            </c:extLst>
          </c:dPt>
          <c:dPt>
            <c:idx val="2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DF-4F79-8393-879AAD37B3F4}"/>
              </c:ext>
            </c:extLst>
          </c:dPt>
          <c:dPt>
            <c:idx val="3"/>
            <c:bubble3D val="0"/>
            <c:spPr>
              <a:solidFill>
                <a:srgbClr val="534A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DF-4F79-8393-879AAD37B3F4}"/>
              </c:ext>
            </c:extLst>
          </c:dPt>
          <c:cat>
            <c:strRef>
              <c:f>Sheet1!$A$2:$A$5</c:f>
              <c:strCache>
                <c:ptCount val="4"/>
                <c:pt idx="0">
                  <c:v>Vehicule</c:v>
                </c:pt>
                <c:pt idx="1">
                  <c:v>Velo</c:v>
                </c:pt>
                <c:pt idx="2">
                  <c:v>TC</c:v>
                </c:pt>
                <c:pt idx="3">
                  <c:v>Marche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54</c:v>
                </c:pt>
                <c:pt idx="2">
                  <c:v>20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DF-4F79-8393-879AAD37B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0B4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56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Presenter Sport Data Solution et l'objectif du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besoins collectes et les 2 avantages avec leurs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l'architecture modulaire. Chaque composant est remplacable.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curseur parametrable du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robustesse du pipeline : 22 tests sur 3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FB60A-EB13-5CD5-3FA4-05FB5CA6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97347-235B-BE4C-AC3E-F99E8042C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6320C-A447-77DC-652C-B9A93AA20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robustesse du pipeline : 22 tests sur 3 tables.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1F32A-ACA7-CE14-7DD1-77ED6A3F8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69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une demonstration live du dashboard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rappelant les livrables et proposer la demo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82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245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6656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674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177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2008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6730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689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5219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590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0882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596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46367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8984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4660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1185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65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69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1" y="1753304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P12_Option B Gérez un projet d’infrastructure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071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choukri-  </a:t>
            </a: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Besoins Metier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entreprise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de monitoring sportif. Culture sport = ADN de l'entreprise.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Juliette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Recompenser les salaries sportifs pour renforcer bien-etre et esprit d'equipe.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collectes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679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avantages : prime deplacement sportif + 5 jours bien-etre pour pratique reguliere.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B2E4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sportive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du salaire annuel brut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Venir au bureau a pied, velo ou trottinette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salarie + validation distance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 w="12700">
            <a:solidFill>
              <a:srgbClr val="C5C2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127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Jours Bien-Etre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15 activites physiques dans l'annee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terme : API Strava OAuth2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ameliorer recuperation et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 du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170432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- Sportive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CP + Nominatim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2039112" y="10515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170432"/>
            <a:ext cx="457200" cy="4572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39112" y="1737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21945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- 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-&gt; SQLite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224028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3758184" y="10515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170432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58184" y="1737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58184" y="21945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 automatises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66944" y="224028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5477256" y="10515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98464" y="117043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8464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77256" y="1737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77256" y="21945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Alertes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86016" y="224028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7196328" y="10515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17536" y="1170432"/>
            <a:ext cx="457200" cy="45720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17536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96328" y="1737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6328" y="21945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65760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11480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 Pandas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411480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411480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411480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4462272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06040" y="4462272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0604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4462272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Resultats et Impact Financier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Eligibles prime sportive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039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 de l'effectif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148,848 EUR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primes / 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039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2522 EUR / sal.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Eligibles jours bien-etre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039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de l'effectif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detectees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039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a verifier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2697480"/>
          <a:ext cx="5029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577840" y="269748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8346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detectees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760720" y="32461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salaries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ont declare venir a velo/trottinette mais leur adresse n'a pas pu etre geocodee -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manuelle requise.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Qualite des Donnees et Monitoring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9621" y="886968"/>
            <a:ext cx="1476292" cy="1314482"/>
          </a:xfrm>
          <a:prstGeom prst="roundRect">
            <a:avLst>
              <a:gd name="adj" fmla="val 4167"/>
            </a:avLst>
          </a:prstGeom>
          <a:solidFill>
            <a:srgbClr val="E1F5EE"/>
          </a:solidFill>
          <a:ln w="12700">
            <a:solidFill>
              <a:srgbClr val="B2E4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50976"/>
            <a:ext cx="122383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6616" y="1430450"/>
            <a:ext cx="11881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qualite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020824"/>
            <a:ext cx="122383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</a:t>
            </a:r>
            <a:endParaRPr lang="en-US" sz="1600" dirty="0"/>
          </a:p>
        </p:txBody>
      </p:sp>
      <p:pic>
        <p:nvPicPr>
          <p:cNvPr id="114" name="Image 113">
            <a:extLst>
              <a:ext uri="{FF2B5EF4-FFF2-40B4-BE49-F238E27FC236}">
                <a16:creationId xmlns:a16="http://schemas.microsoft.com/office/drawing/2014/main" id="{2F18737F-050E-8B19-A02A-612A3EB7A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332" y="1136827"/>
            <a:ext cx="7347668" cy="3846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8043-1D7B-26DD-EC0C-3313C64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6B9777A3-70AC-A55E-44D1-6B89D4B62B7A}"/>
              </a:ext>
            </a:extLst>
          </p:cNvPr>
          <p:cNvSpPr/>
          <p:nvPr/>
        </p:nvSpPr>
        <p:spPr>
          <a:xfrm>
            <a:off x="365760" y="777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salaries (6 tests)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C4A46C6-84D4-49DD-819B-D4A0B5C1EBBF}"/>
              </a:ext>
            </a:extLst>
          </p:cNvPr>
          <p:cNvSpPr/>
          <p:nvPr/>
        </p:nvSpPr>
        <p:spPr>
          <a:xfrm>
            <a:off x="365760" y="4709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7B5129-F1D1-7703-9DAA-26D0ED832E03}"/>
              </a:ext>
            </a:extLst>
          </p:cNvPr>
          <p:cNvSpPr/>
          <p:nvPr/>
        </p:nvSpPr>
        <p:spPr>
          <a:xfrm>
            <a:off x="365760" y="4709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17119A-C8B4-0764-0B8C-79054D6FC4CA}"/>
              </a:ext>
            </a:extLst>
          </p:cNvPr>
          <p:cNvSpPr/>
          <p:nvPr/>
        </p:nvSpPr>
        <p:spPr>
          <a:xfrm>
            <a:off x="658368" y="4709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salarie unique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48DED55-A2C3-424E-CB71-C43D167BE5EE}"/>
              </a:ext>
            </a:extLst>
          </p:cNvPr>
          <p:cNvSpPr/>
          <p:nvPr/>
        </p:nvSpPr>
        <p:spPr>
          <a:xfrm>
            <a:off x="365760" y="85496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D54901-30DF-7CA2-EAFB-2CFD6B72A4AD}"/>
              </a:ext>
            </a:extLst>
          </p:cNvPr>
          <p:cNvSpPr/>
          <p:nvPr/>
        </p:nvSpPr>
        <p:spPr>
          <a:xfrm>
            <a:off x="365760" y="8549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928CA4-CAC9-AE15-7489-DB7716CDE9A9}"/>
              </a:ext>
            </a:extLst>
          </p:cNvPr>
          <p:cNvSpPr/>
          <p:nvPr/>
        </p:nvSpPr>
        <p:spPr>
          <a:xfrm>
            <a:off x="658368" y="8549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 nom+prenom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EB9F4D4-51CA-ACF7-BF70-FFC0106ABEDF}"/>
              </a:ext>
            </a:extLst>
          </p:cNvPr>
          <p:cNvSpPr/>
          <p:nvPr/>
        </p:nvSpPr>
        <p:spPr>
          <a:xfrm>
            <a:off x="365760" y="12390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D38419-CB8C-7A94-136E-84FBD31FACEB}"/>
              </a:ext>
            </a:extLst>
          </p:cNvPr>
          <p:cNvSpPr/>
          <p:nvPr/>
        </p:nvSpPr>
        <p:spPr>
          <a:xfrm>
            <a:off x="365760" y="12390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C812B23-0678-9AC2-CBCB-2DFD085C2B14}"/>
              </a:ext>
            </a:extLst>
          </p:cNvPr>
          <p:cNvSpPr/>
          <p:nvPr/>
        </p:nvSpPr>
        <p:spPr>
          <a:xfrm>
            <a:off x="658368" y="12390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brut positif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21C4269-1D53-E97C-2F45-14366257F4AF}"/>
              </a:ext>
            </a:extLst>
          </p:cNvPr>
          <p:cNvSpPr/>
          <p:nvPr/>
        </p:nvSpPr>
        <p:spPr>
          <a:xfrm>
            <a:off x="365760" y="162306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98C9E43-65F3-64AA-0561-D07D3B16C9AD}"/>
              </a:ext>
            </a:extLst>
          </p:cNvPr>
          <p:cNvSpPr/>
          <p:nvPr/>
        </p:nvSpPr>
        <p:spPr>
          <a:xfrm>
            <a:off x="365760" y="16230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1987FDA-971D-A9FA-1F1A-7526585D5D4A}"/>
              </a:ext>
            </a:extLst>
          </p:cNvPr>
          <p:cNvSpPr/>
          <p:nvPr/>
        </p:nvSpPr>
        <p:spPr>
          <a:xfrm>
            <a:off x="658368" y="16230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 realiste [20k-200k EUR]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31542C2-10F7-D386-E344-961ECA6F04B8}"/>
              </a:ext>
            </a:extLst>
          </p:cNvPr>
          <p:cNvSpPr/>
          <p:nvPr/>
        </p:nvSpPr>
        <p:spPr>
          <a:xfrm>
            <a:off x="365760" y="200710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0B71A3D-B1EF-91CE-D244-910B3701AC5E}"/>
              </a:ext>
            </a:extLst>
          </p:cNvPr>
          <p:cNvSpPr/>
          <p:nvPr/>
        </p:nvSpPr>
        <p:spPr>
          <a:xfrm>
            <a:off x="365760" y="20071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71BDF57-BD2C-BC45-3632-C5D32471B1D0}"/>
              </a:ext>
            </a:extLst>
          </p:cNvPr>
          <p:cNvSpPr/>
          <p:nvPr/>
        </p:nvSpPr>
        <p:spPr>
          <a:xfrm>
            <a:off x="658368" y="20071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nom vide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E348E2F-0BA1-098F-32E6-81866AFE6C1F}"/>
              </a:ext>
            </a:extLst>
          </p:cNvPr>
          <p:cNvSpPr/>
          <p:nvPr/>
        </p:nvSpPr>
        <p:spPr>
          <a:xfrm>
            <a:off x="365760" y="23911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90B242C-F266-7745-7D9E-EB9C6D162A91}"/>
              </a:ext>
            </a:extLst>
          </p:cNvPr>
          <p:cNvSpPr/>
          <p:nvPr/>
        </p:nvSpPr>
        <p:spPr>
          <a:xfrm>
            <a:off x="365760" y="23911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114D6F7-0470-D4FF-4103-83614828236B}"/>
              </a:ext>
            </a:extLst>
          </p:cNvPr>
          <p:cNvSpPr/>
          <p:nvPr/>
        </p:nvSpPr>
        <p:spPr>
          <a:xfrm>
            <a:off x="658368" y="23911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deplacement valide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25A7EAF-2045-E73E-7E32-F19FE3F90A16}"/>
              </a:ext>
            </a:extLst>
          </p:cNvPr>
          <p:cNvSpPr/>
          <p:nvPr/>
        </p:nvSpPr>
        <p:spPr>
          <a:xfrm>
            <a:off x="2596896" y="1234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activites (10 tests)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9E9FBDC-39A5-90FF-2F52-47D7DF1BEB44}"/>
              </a:ext>
            </a:extLst>
          </p:cNvPr>
          <p:cNvSpPr/>
          <p:nvPr/>
        </p:nvSpPr>
        <p:spPr>
          <a:xfrm>
            <a:off x="2596896" y="51663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1F09578-CD10-C1E3-5A96-1B8DF19B61AC}"/>
              </a:ext>
            </a:extLst>
          </p:cNvPr>
          <p:cNvSpPr/>
          <p:nvPr/>
        </p:nvSpPr>
        <p:spPr>
          <a:xfrm>
            <a:off x="2596896" y="5166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4B15706-E777-EB75-0629-FFE9CBF639B0}"/>
              </a:ext>
            </a:extLst>
          </p:cNvPr>
          <p:cNvSpPr/>
          <p:nvPr/>
        </p:nvSpPr>
        <p:spPr>
          <a:xfrm>
            <a:off x="2889504" y="5166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salarie present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D875F85-050B-049F-869A-BD19AA514DBF}"/>
              </a:ext>
            </a:extLst>
          </p:cNvPr>
          <p:cNvSpPr/>
          <p:nvPr/>
        </p:nvSpPr>
        <p:spPr>
          <a:xfrm>
            <a:off x="2596896" y="9006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5FF1A27-9729-4D1F-CF49-9D2D0B0FA50B}"/>
              </a:ext>
            </a:extLst>
          </p:cNvPr>
          <p:cNvSpPr/>
          <p:nvPr/>
        </p:nvSpPr>
        <p:spPr>
          <a:xfrm>
            <a:off x="2596896" y="9006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8087CEA-543F-EEB6-3AB4-667F85C0C761}"/>
              </a:ext>
            </a:extLst>
          </p:cNvPr>
          <p:cNvSpPr/>
          <p:nvPr/>
        </p:nvSpPr>
        <p:spPr>
          <a:xfrm>
            <a:off x="2889504" y="90068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&gt;= 0 km</a:t>
            </a:r>
            <a:endParaRPr lang="en-US" sz="9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3A76355-62D6-2286-907B-B1121FBC08FF}"/>
              </a:ext>
            </a:extLst>
          </p:cNvPr>
          <p:cNvSpPr/>
          <p:nvPr/>
        </p:nvSpPr>
        <p:spPr>
          <a:xfrm>
            <a:off x="2596896" y="128473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6A1470E-6C08-3A79-082B-0E90D725A5E7}"/>
              </a:ext>
            </a:extLst>
          </p:cNvPr>
          <p:cNvSpPr/>
          <p:nvPr/>
        </p:nvSpPr>
        <p:spPr>
          <a:xfrm>
            <a:off x="2596896" y="12847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6E57F88-3AAD-EF9D-2798-167FCC0C5000}"/>
              </a:ext>
            </a:extLst>
          </p:cNvPr>
          <p:cNvSpPr/>
          <p:nvPr/>
        </p:nvSpPr>
        <p:spPr>
          <a:xfrm>
            <a:off x="2889504" y="12847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&lt; 200 km</a:t>
            </a:r>
            <a:endParaRPr lang="en-US" sz="9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6BDD108-FF14-7DD5-BB37-2CE49AC86EF5}"/>
              </a:ext>
            </a:extLst>
          </p:cNvPr>
          <p:cNvSpPr/>
          <p:nvPr/>
        </p:nvSpPr>
        <p:spPr>
          <a:xfrm>
            <a:off x="2596896" y="16687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6B18C0D-1AF1-30AA-9C15-124FE435DB4E}"/>
              </a:ext>
            </a:extLst>
          </p:cNvPr>
          <p:cNvSpPr/>
          <p:nvPr/>
        </p:nvSpPr>
        <p:spPr>
          <a:xfrm>
            <a:off x="2596896" y="16687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4E91237-2CAF-6653-681D-C09A20C082BA}"/>
              </a:ext>
            </a:extLst>
          </p:cNvPr>
          <p:cNvSpPr/>
          <p:nvPr/>
        </p:nvSpPr>
        <p:spPr>
          <a:xfrm>
            <a:off x="2889504" y="16687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&gt; 0 min</a:t>
            </a:r>
            <a:endParaRPr lang="en-US" sz="9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9E5892A-10B1-2054-514D-DD5BF27CBA19}"/>
              </a:ext>
            </a:extLst>
          </p:cNvPr>
          <p:cNvSpPr/>
          <p:nvPr/>
        </p:nvSpPr>
        <p:spPr>
          <a:xfrm>
            <a:off x="2596896" y="20528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6A65995-7719-52CA-2CB9-7AA21D26E551}"/>
              </a:ext>
            </a:extLst>
          </p:cNvPr>
          <p:cNvSpPr/>
          <p:nvPr/>
        </p:nvSpPr>
        <p:spPr>
          <a:xfrm>
            <a:off x="2596896" y="20528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227C40F-4281-DF67-5B97-4BB90E9B05EC}"/>
              </a:ext>
            </a:extLst>
          </p:cNvPr>
          <p:cNvSpPr/>
          <p:nvPr/>
        </p:nvSpPr>
        <p:spPr>
          <a:xfrm>
            <a:off x="2889504" y="20528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&lt; 24h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258FBE3-9594-2A2B-CB55-D63037DD6124}"/>
              </a:ext>
            </a:extLst>
          </p:cNvPr>
          <p:cNvSpPr/>
          <p:nvPr/>
        </p:nvSpPr>
        <p:spPr>
          <a:xfrm>
            <a:off x="2596896" y="243687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A6F79D2-9FA5-31DD-E185-052462AF7046}"/>
              </a:ext>
            </a:extLst>
          </p:cNvPr>
          <p:cNvSpPr/>
          <p:nvPr/>
        </p:nvSpPr>
        <p:spPr>
          <a:xfrm>
            <a:off x="2596896" y="24368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7A175DA-7E66-11C0-8596-8EA63EB8AA5F}"/>
              </a:ext>
            </a:extLst>
          </p:cNvPr>
          <p:cNvSpPr/>
          <p:nvPr/>
        </p:nvSpPr>
        <p:spPr>
          <a:xfrm>
            <a:off x="2889504" y="24368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valides</a:t>
            </a:r>
            <a:endParaRPr lang="en-US" sz="9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8191226-BB1E-26D7-0685-591D1F82DC22}"/>
              </a:ext>
            </a:extLst>
          </p:cNvPr>
          <p:cNvSpPr/>
          <p:nvPr/>
        </p:nvSpPr>
        <p:spPr>
          <a:xfrm>
            <a:off x="2596896" y="281635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024C87F-497F-D998-DC1E-35C20FD49697}"/>
              </a:ext>
            </a:extLst>
          </p:cNvPr>
          <p:cNvSpPr/>
          <p:nvPr/>
        </p:nvSpPr>
        <p:spPr>
          <a:xfrm>
            <a:off x="2596896" y="280601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AA2C807-5A4D-52C7-0E87-09A23EAE3C01}"/>
              </a:ext>
            </a:extLst>
          </p:cNvPr>
          <p:cNvSpPr/>
          <p:nvPr/>
        </p:nvSpPr>
        <p:spPr>
          <a:xfrm>
            <a:off x="2889504" y="28163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salarie reference connu</a:t>
            </a:r>
            <a:endParaRPr lang="en-US" sz="9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715FDCA-C2AC-0609-F011-86CE1B315EFE}"/>
              </a:ext>
            </a:extLst>
          </p:cNvPr>
          <p:cNvSpPr/>
          <p:nvPr/>
        </p:nvSpPr>
        <p:spPr>
          <a:xfrm>
            <a:off x="2596896" y="315010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B682A42-2E37-0EF1-612B-F48ACF17E59A}"/>
              </a:ext>
            </a:extLst>
          </p:cNvPr>
          <p:cNvSpPr/>
          <p:nvPr/>
        </p:nvSpPr>
        <p:spPr>
          <a:xfrm>
            <a:off x="2596896" y="3163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476CBDF-3AE1-77D2-1A60-91B0C21EE569}"/>
              </a:ext>
            </a:extLst>
          </p:cNvPr>
          <p:cNvSpPr/>
          <p:nvPr/>
        </p:nvSpPr>
        <p:spPr>
          <a:xfrm>
            <a:off x="2889504" y="31455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dans referentiel</a:t>
            </a:r>
            <a:endParaRPr lang="en-US" sz="9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9B53494-64FC-C1C0-7B06-609F64336E91}"/>
              </a:ext>
            </a:extLst>
          </p:cNvPr>
          <p:cNvSpPr/>
          <p:nvPr/>
        </p:nvSpPr>
        <p:spPr>
          <a:xfrm>
            <a:off x="4892040" y="44897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39E744B-3362-A05F-1CD2-CE591BEC8DDB}"/>
              </a:ext>
            </a:extLst>
          </p:cNvPr>
          <p:cNvSpPr/>
          <p:nvPr/>
        </p:nvSpPr>
        <p:spPr>
          <a:xfrm>
            <a:off x="4892040" y="4489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834BA6F-6919-64BF-1F67-CCC352B4435C}"/>
              </a:ext>
            </a:extLst>
          </p:cNvPr>
          <p:cNvSpPr/>
          <p:nvPr/>
        </p:nvSpPr>
        <p:spPr>
          <a:xfrm>
            <a:off x="2889504" y="34015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Intensite valide</a:t>
            </a:r>
            <a:endParaRPr lang="en-US" sz="9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DACB3C0-ADE5-B1F0-D8AC-349A0FD1A1E3}"/>
              </a:ext>
            </a:extLst>
          </p:cNvPr>
          <p:cNvSpPr/>
          <p:nvPr/>
        </p:nvSpPr>
        <p:spPr>
          <a:xfrm>
            <a:off x="2589528" y="376037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4AA75DC9-867F-B895-9562-E60D42989F95}"/>
              </a:ext>
            </a:extLst>
          </p:cNvPr>
          <p:cNvSpPr/>
          <p:nvPr/>
        </p:nvSpPr>
        <p:spPr>
          <a:xfrm>
            <a:off x="2589528" y="376037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5267BA4-C78B-7193-08BF-FEA8A8305EF9}"/>
              </a:ext>
            </a:extLst>
          </p:cNvPr>
          <p:cNvSpPr/>
          <p:nvPr/>
        </p:nvSpPr>
        <p:spPr>
          <a:xfrm>
            <a:off x="2852928" y="3761459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positives</a:t>
            </a:r>
            <a:endParaRPr lang="en-US" sz="9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891F87B-095A-54F2-CF45-F059DB5D9530}"/>
              </a:ext>
            </a:extLst>
          </p:cNvPr>
          <p:cNvSpPr/>
          <p:nvPr/>
        </p:nvSpPr>
        <p:spPr>
          <a:xfrm>
            <a:off x="4736592" y="60629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avantages (6 tests)</a:t>
            </a:r>
            <a:endParaRPr lang="en-US" sz="10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CD39DCE3-173A-D3D8-F3E4-603BF64B2DC9}"/>
              </a:ext>
            </a:extLst>
          </p:cNvPr>
          <p:cNvSpPr/>
          <p:nvPr/>
        </p:nvSpPr>
        <p:spPr>
          <a:xfrm>
            <a:off x="4736592" y="453821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B24F21DB-E9C5-31DC-23FC-F1EF8BFE885C}"/>
              </a:ext>
            </a:extLst>
          </p:cNvPr>
          <p:cNvSpPr/>
          <p:nvPr/>
        </p:nvSpPr>
        <p:spPr>
          <a:xfrm>
            <a:off x="4736592" y="45382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0C5B9EEA-8F8E-A3A2-757C-996B24822147}"/>
              </a:ext>
            </a:extLst>
          </p:cNvPr>
          <p:cNvSpPr/>
          <p:nvPr/>
        </p:nvSpPr>
        <p:spPr>
          <a:xfrm>
            <a:off x="5029200" y="453821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prime &gt;= 0</a:t>
            </a:r>
            <a:endParaRPr lang="en-US" sz="9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8CDA025-A44D-2C48-C23B-B9A4EAF72A5D}"/>
              </a:ext>
            </a:extLst>
          </p:cNvPr>
          <p:cNvSpPr/>
          <p:nvPr/>
        </p:nvSpPr>
        <p:spPr>
          <a:xfrm>
            <a:off x="4736592" y="837869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8020260E-01DB-A257-A593-979BA867143F}"/>
              </a:ext>
            </a:extLst>
          </p:cNvPr>
          <p:cNvSpPr/>
          <p:nvPr/>
        </p:nvSpPr>
        <p:spPr>
          <a:xfrm>
            <a:off x="4736592" y="8378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1F1F9A1-55A9-CF5A-DA52-4A032EC908E1}"/>
              </a:ext>
            </a:extLst>
          </p:cNvPr>
          <p:cNvSpPr/>
          <p:nvPr/>
        </p:nvSpPr>
        <p:spPr>
          <a:xfrm>
            <a:off x="5029200" y="837869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= 5% salaire si eligible</a:t>
            </a:r>
            <a:endParaRPr lang="en-US" sz="9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F5EB276-A817-8C40-8B6B-325186E2D7DA}"/>
              </a:ext>
            </a:extLst>
          </p:cNvPr>
          <p:cNvSpPr/>
          <p:nvPr/>
        </p:nvSpPr>
        <p:spPr>
          <a:xfrm>
            <a:off x="4736592" y="1221917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43046375-842C-0E12-2164-C627E5BE134D}"/>
              </a:ext>
            </a:extLst>
          </p:cNvPr>
          <p:cNvSpPr/>
          <p:nvPr/>
        </p:nvSpPr>
        <p:spPr>
          <a:xfrm>
            <a:off x="4736592" y="122191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AD0597E7-0F3D-AA22-5844-85517E74CA0E}"/>
              </a:ext>
            </a:extLst>
          </p:cNvPr>
          <p:cNvSpPr/>
          <p:nvPr/>
        </p:nvSpPr>
        <p:spPr>
          <a:xfrm>
            <a:off x="5029200" y="1221917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bien-etre dans {0, 5}</a:t>
            </a:r>
            <a:endParaRPr lang="en-US" sz="9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4EA3CE9-F431-BB28-7373-161F12C5C733}"/>
              </a:ext>
            </a:extLst>
          </p:cNvPr>
          <p:cNvSpPr/>
          <p:nvPr/>
        </p:nvSpPr>
        <p:spPr>
          <a:xfrm>
            <a:off x="4736592" y="1605965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9BEB7017-4A6F-D7C3-5664-986D28CFAB75}"/>
              </a:ext>
            </a:extLst>
          </p:cNvPr>
          <p:cNvSpPr/>
          <p:nvPr/>
        </p:nvSpPr>
        <p:spPr>
          <a:xfrm>
            <a:off x="4736592" y="160596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D3D1C244-70EF-4112-CD18-20751E7DD80F}"/>
              </a:ext>
            </a:extLst>
          </p:cNvPr>
          <p:cNvSpPr/>
          <p:nvPr/>
        </p:nvSpPr>
        <p:spPr>
          <a:xfrm>
            <a:off x="5029200" y="1605965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d'eligible avec anomalie</a:t>
            </a:r>
            <a:endParaRPr lang="en-US" sz="9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25E08D46-9825-C791-5673-FC3FEE9B6983}"/>
              </a:ext>
            </a:extLst>
          </p:cNvPr>
          <p:cNvSpPr/>
          <p:nvPr/>
        </p:nvSpPr>
        <p:spPr>
          <a:xfrm>
            <a:off x="4736592" y="1990013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99C0ED10-13FA-0AA4-5B79-52B172905C09}"/>
              </a:ext>
            </a:extLst>
          </p:cNvPr>
          <p:cNvSpPr/>
          <p:nvPr/>
        </p:nvSpPr>
        <p:spPr>
          <a:xfrm>
            <a:off x="4736592" y="199001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D6640CB2-2188-7451-D0B8-5D1D664BE53F}"/>
              </a:ext>
            </a:extLst>
          </p:cNvPr>
          <p:cNvSpPr/>
          <p:nvPr/>
        </p:nvSpPr>
        <p:spPr>
          <a:xfrm>
            <a:off x="5029200" y="1990013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activites coherent</a:t>
            </a:r>
            <a:endParaRPr lang="en-US" sz="9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757C28EE-87A3-4581-1C0C-F813FC931170}"/>
              </a:ext>
            </a:extLst>
          </p:cNvPr>
          <p:cNvSpPr/>
          <p:nvPr/>
        </p:nvSpPr>
        <p:spPr>
          <a:xfrm>
            <a:off x="4736592" y="2374061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C7E953EB-2540-6324-9F9C-54C10F0EE2E9}"/>
              </a:ext>
            </a:extLst>
          </p:cNvPr>
          <p:cNvSpPr/>
          <p:nvPr/>
        </p:nvSpPr>
        <p:spPr>
          <a:xfrm>
            <a:off x="4736592" y="23740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334A6821-4684-33B8-8564-0485AC2BB4C9}"/>
              </a:ext>
            </a:extLst>
          </p:cNvPr>
          <p:cNvSpPr/>
          <p:nvPr/>
        </p:nvSpPr>
        <p:spPr>
          <a:xfrm>
            <a:off x="5029200" y="2374061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prime/bien-etre</a:t>
            </a:r>
            <a:endParaRPr lang="en-US" sz="9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C2B90235-8A00-F0AB-1986-C5FCB75E1684}"/>
              </a:ext>
            </a:extLst>
          </p:cNvPr>
          <p:cNvSpPr/>
          <p:nvPr/>
        </p:nvSpPr>
        <p:spPr>
          <a:xfrm>
            <a:off x="177839" y="4064028"/>
            <a:ext cx="8678594" cy="987552"/>
          </a:xfrm>
          <a:prstGeom prst="roundRect">
            <a:avLst>
              <a:gd name="adj" fmla="val 6667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9EE57AED-B14B-4189-F442-48D2CCF82032}"/>
              </a:ext>
            </a:extLst>
          </p:cNvPr>
          <p:cNvSpPr/>
          <p:nvPr/>
        </p:nvSpPr>
        <p:spPr>
          <a:xfrm>
            <a:off x="2148840" y="40137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Airflow - DAG quotidien a 6h</a:t>
            </a:r>
            <a:endParaRPr lang="en-US" sz="120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CC54EED1-4EBA-BB87-49BB-DD6CF3EA25B1}"/>
              </a:ext>
            </a:extLst>
          </p:cNvPr>
          <p:cNvSpPr/>
          <p:nvPr/>
        </p:nvSpPr>
        <p:spPr>
          <a:xfrm>
            <a:off x="457200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0FE943B6-6056-4580-AFB8-5F9E192B96D5}"/>
              </a:ext>
            </a:extLst>
          </p:cNvPr>
          <p:cNvSpPr/>
          <p:nvPr/>
        </p:nvSpPr>
        <p:spPr>
          <a:xfrm>
            <a:off x="457200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RH</a:t>
            </a:r>
            <a:endParaRPr lang="en-US" sz="75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92864F0E-EE45-9DD7-A35B-13A84FEDDA63}"/>
              </a:ext>
            </a:extLst>
          </p:cNvPr>
          <p:cNvSpPr/>
          <p:nvPr/>
        </p:nvSpPr>
        <p:spPr>
          <a:xfrm>
            <a:off x="1417320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4F215C95-B8B1-FD8C-17E8-D47B64F86BD2}"/>
              </a:ext>
            </a:extLst>
          </p:cNvPr>
          <p:cNvSpPr/>
          <p:nvPr/>
        </p:nvSpPr>
        <p:spPr>
          <a:xfrm>
            <a:off x="1527048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E170CAB0-77E2-C646-EB83-975D2C28CC34}"/>
              </a:ext>
            </a:extLst>
          </p:cNvPr>
          <p:cNvSpPr/>
          <p:nvPr/>
        </p:nvSpPr>
        <p:spPr>
          <a:xfrm>
            <a:off x="1527048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Strava</a:t>
            </a:r>
            <a:endParaRPr lang="en-US" sz="75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4FB1206F-DC2E-006A-27DD-143D4E14BAF7}"/>
              </a:ext>
            </a:extLst>
          </p:cNvPr>
          <p:cNvSpPr/>
          <p:nvPr/>
        </p:nvSpPr>
        <p:spPr>
          <a:xfrm>
            <a:off x="2487168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D8185760-6F96-665D-0ED2-E5AE992D9151}"/>
              </a:ext>
            </a:extLst>
          </p:cNvPr>
          <p:cNvSpPr/>
          <p:nvPr/>
        </p:nvSpPr>
        <p:spPr>
          <a:xfrm>
            <a:off x="2596896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192CE69B-24CB-125E-0086-A94B429DD87B}"/>
              </a:ext>
            </a:extLst>
          </p:cNvPr>
          <p:cNvSpPr/>
          <p:nvPr/>
        </p:nvSpPr>
        <p:spPr>
          <a:xfrm>
            <a:off x="2596896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66ADA29F-192A-C32E-7829-2CC67663D5B7}"/>
              </a:ext>
            </a:extLst>
          </p:cNvPr>
          <p:cNvSpPr/>
          <p:nvPr/>
        </p:nvSpPr>
        <p:spPr>
          <a:xfrm>
            <a:off x="3557016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37B332EA-CD0A-AED0-4214-33295206CB9C}"/>
              </a:ext>
            </a:extLst>
          </p:cNvPr>
          <p:cNvSpPr/>
          <p:nvPr/>
        </p:nvSpPr>
        <p:spPr>
          <a:xfrm>
            <a:off x="3666744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CD1C6222-9C91-2876-3E7E-724B6C532306}"/>
              </a:ext>
            </a:extLst>
          </p:cNvPr>
          <p:cNvSpPr/>
          <p:nvPr/>
        </p:nvSpPr>
        <p:spPr>
          <a:xfrm>
            <a:off x="3666744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eligibilite</a:t>
            </a:r>
            <a:endParaRPr lang="en-US" sz="75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332BDCD8-3D33-D49A-9CD6-45C90E2A63DA}"/>
              </a:ext>
            </a:extLst>
          </p:cNvPr>
          <p:cNvSpPr/>
          <p:nvPr/>
        </p:nvSpPr>
        <p:spPr>
          <a:xfrm>
            <a:off x="4626864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F721D4F0-13D7-2E16-FFF9-87C649BD6EFF}"/>
              </a:ext>
            </a:extLst>
          </p:cNvPr>
          <p:cNvSpPr/>
          <p:nvPr/>
        </p:nvSpPr>
        <p:spPr>
          <a:xfrm>
            <a:off x="4736592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ACEF542C-12F9-48DC-F047-C62217894AF0}"/>
              </a:ext>
            </a:extLst>
          </p:cNvPr>
          <p:cNvSpPr/>
          <p:nvPr/>
        </p:nvSpPr>
        <p:spPr>
          <a:xfrm>
            <a:off x="4736592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Verif. anomalies</a:t>
            </a:r>
            <a:endParaRPr lang="en-US" sz="75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900FBFC6-1760-8C10-6C11-EE56C9F2AFA9}"/>
              </a:ext>
            </a:extLst>
          </p:cNvPr>
          <p:cNvSpPr/>
          <p:nvPr/>
        </p:nvSpPr>
        <p:spPr>
          <a:xfrm>
            <a:off x="5696712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9699A5FB-53E9-EE6F-949F-394B436BDE45}"/>
              </a:ext>
            </a:extLst>
          </p:cNvPr>
          <p:cNvSpPr/>
          <p:nvPr/>
        </p:nvSpPr>
        <p:spPr>
          <a:xfrm>
            <a:off x="5806440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C059D303-5185-BEE1-DDEB-D9D3303AFB49}"/>
              </a:ext>
            </a:extLst>
          </p:cNvPr>
          <p:cNvSpPr/>
          <p:nvPr/>
        </p:nvSpPr>
        <p:spPr>
          <a:xfrm>
            <a:off x="5806440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DB</a:t>
            </a:r>
            <a:endParaRPr lang="en-US" sz="750" dirty="0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4A672488-076A-1E57-3044-2815876AF54C}"/>
              </a:ext>
            </a:extLst>
          </p:cNvPr>
          <p:cNvSpPr/>
          <p:nvPr/>
        </p:nvSpPr>
        <p:spPr>
          <a:xfrm>
            <a:off x="6766560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7792007C-3AA8-F57B-46F9-691C4DB132FA}"/>
              </a:ext>
            </a:extLst>
          </p:cNvPr>
          <p:cNvSpPr/>
          <p:nvPr/>
        </p:nvSpPr>
        <p:spPr>
          <a:xfrm>
            <a:off x="6876288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B4C50E04-E15D-0A02-309D-2ED30D3FDA26}"/>
              </a:ext>
            </a:extLst>
          </p:cNvPr>
          <p:cNvSpPr/>
          <p:nvPr/>
        </p:nvSpPr>
        <p:spPr>
          <a:xfrm>
            <a:off x="6876288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qualite</a:t>
            </a:r>
            <a:endParaRPr lang="en-US" sz="750" dirty="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E9A327FC-4FC9-D1D4-C630-509D4B37D543}"/>
              </a:ext>
            </a:extLst>
          </p:cNvPr>
          <p:cNvSpPr/>
          <p:nvPr/>
        </p:nvSpPr>
        <p:spPr>
          <a:xfrm>
            <a:off x="7836408" y="4498848"/>
            <a:ext cx="10972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3BCC8DCA-EF3D-6A77-8FBC-2C71A43FB43A}"/>
              </a:ext>
            </a:extLst>
          </p:cNvPr>
          <p:cNvSpPr/>
          <p:nvPr/>
        </p:nvSpPr>
        <p:spPr>
          <a:xfrm>
            <a:off x="7946136" y="4279392"/>
            <a:ext cx="960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1D76CB78-7092-0DFC-0017-368461572709}"/>
              </a:ext>
            </a:extLst>
          </p:cNvPr>
          <p:cNvSpPr/>
          <p:nvPr/>
        </p:nvSpPr>
        <p:spPr>
          <a:xfrm>
            <a:off x="7946136" y="42793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notifs</a:t>
            </a:r>
            <a:endParaRPr lang="en-US" sz="750" dirty="0"/>
          </a:p>
        </p:txBody>
      </p:sp>
      <p:sp>
        <p:nvSpPr>
          <p:cNvPr id="113" name="Shape 47">
            <a:extLst>
              <a:ext uri="{FF2B5EF4-FFF2-40B4-BE49-F238E27FC236}">
                <a16:creationId xmlns:a16="http://schemas.microsoft.com/office/drawing/2014/main" id="{DFD0D3F5-5855-0FA3-37A4-1B1FC700B4EF}"/>
              </a:ext>
            </a:extLst>
          </p:cNvPr>
          <p:cNvSpPr/>
          <p:nvPr/>
        </p:nvSpPr>
        <p:spPr>
          <a:xfrm>
            <a:off x="2596896" y="3422439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4" name="Text 48">
            <a:extLst>
              <a:ext uri="{FF2B5EF4-FFF2-40B4-BE49-F238E27FC236}">
                <a16:creationId xmlns:a16="http://schemas.microsoft.com/office/drawing/2014/main" id="{044DF8E4-7BDF-B7AA-2BB1-7BBEF33066DD}"/>
              </a:ext>
            </a:extLst>
          </p:cNvPr>
          <p:cNvSpPr/>
          <p:nvPr/>
        </p:nvSpPr>
        <p:spPr>
          <a:xfrm>
            <a:off x="2596896" y="34427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6465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Streamlit - KPI Cles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3886200"/>
          </a:xfrm>
          <a:prstGeom prst="roundRect">
            <a:avLst>
              <a:gd name="adj" fmla="val 2824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371600" cy="3886200"/>
          </a:xfrm>
          <a:prstGeom prst="roundRect">
            <a:avLst>
              <a:gd name="adj" fmla="val 8000"/>
            </a:avLst>
          </a:prstGeom>
          <a:solidFill>
            <a:srgbClr val="0E1520"/>
          </a:solidFill>
          <a:ln w="12700">
            <a:solidFill>
              <a:srgbClr val="0E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sportive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Bien-etre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0240" y="1115568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E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188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39312" y="1115568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E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188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9312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58384" y="1115568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E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188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148,848 EUR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58384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primes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77456" y="1115568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E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188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Bien-etre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40880" y="1115568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1E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207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prime : 5%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40880" y="1481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activites : 15</a:t>
            </a:r>
            <a:endParaRPr lang="en-US" sz="8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1828800" y="2057400"/>
          <a:ext cx="38404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1"/>
          <p:cNvGraphicFramePr/>
          <p:nvPr/>
        </p:nvGraphicFramePr>
        <p:xfrm>
          <a:off x="5715000" y="2057400"/>
          <a:ext cx="28346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365760" y="4919472"/>
            <a:ext cx="201168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B2E4D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5760" y="4919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Sliders taux et seuil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42032" y="4919472"/>
            <a:ext cx="201168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B2E4D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542032" y="4919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Rechargement auto depuis DB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718304" y="4919472"/>
            <a:ext cx="201168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B2E4D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18304" y="4919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Vue par BU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894576" y="4919472"/>
            <a:ext cx="201168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2700">
            <a:solidFill>
              <a:srgbClr val="B2E4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94576" y="4919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Tableau anomalies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valide. Pret pour la mise en production.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2860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bout en bout fonctionnel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 tests qualite passes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852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3592 activites simulees sur 12 mois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264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interactif avec parametres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Airflow avec alertes automatiques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087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code sur GitHub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1920240"/>
            <a:ext cx="2926080" cy="2834640"/>
          </a:xfrm>
          <a:prstGeom prst="roundRect">
            <a:avLst>
              <a:gd name="adj" fmla="val 3226"/>
            </a:avLst>
          </a:prstGeom>
          <a:solidFill>
            <a:srgbClr val="1E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148,848 EUR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52160" y="27249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 - primes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0" y="3227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actifs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521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52160" y="37307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bien-etre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5216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~2523 EUR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52160" y="4233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/ salarie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-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1567</TotalTime>
  <Words>618</Words>
  <Application>Microsoft Office PowerPoint</Application>
  <PresentationFormat>Affichage à l'écran (16:9)</PresentationFormat>
  <Paragraphs>188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Trebuchet MS</vt:lpstr>
      <vt:lpstr>Wingdings 3</vt:lpstr>
      <vt:lpstr>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Avantages Sportifs - Gestion de Projet</dc:title>
  <dc:subject>PptxGenJS Presentation</dc:subject>
  <dc:creator>Sport Data Solution</dc:creator>
  <cp:lastModifiedBy>AHMED CHOUKRI</cp:lastModifiedBy>
  <cp:revision>2</cp:revision>
  <dcterms:created xsi:type="dcterms:W3CDTF">2026-06-15T14:16:39Z</dcterms:created>
  <dcterms:modified xsi:type="dcterms:W3CDTF">2026-06-16T17:04:27Z</dcterms:modified>
</cp:coreProperties>
</file>